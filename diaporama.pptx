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5.png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Diaporama – Projet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Sujet F : Autoencodeurs, VAE et GAN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Groupe [vos noms] – [Date]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Introduction et contexte</a:t>
            </a:r>
          </a:p>
          <a:p>
            <a:pPr lvl="0" indent="-342900" marL="342900">
              <a:buAutoNum type="arabicPeriod"/>
            </a:pPr>
            <a:r>
              <a:rPr/>
              <a:t>Autoencodeur simple</a:t>
            </a:r>
          </a:p>
          <a:p>
            <a:pPr lvl="0" indent="-342900" marL="342900">
              <a:buAutoNum type="arabicPeriod"/>
            </a:pPr>
            <a:r>
              <a:rPr/>
              <a:t>Autoencodeur variationnel (VAE)</a:t>
            </a:r>
          </a:p>
          <a:p>
            <a:pPr lvl="0" indent="-342900" marL="342900">
              <a:buAutoNum type="arabicPeriod"/>
            </a:pPr>
            <a:r>
              <a:rPr/>
              <a:t>GAN classique</a:t>
            </a:r>
          </a:p>
          <a:p>
            <a:pPr lvl="0" indent="-342900" marL="342900">
              <a:buAutoNum type="arabicPeriod"/>
            </a:pPr>
            <a:r>
              <a:rPr/>
              <a:t>WGAN-GP</a:t>
            </a:r>
          </a:p>
          <a:p>
            <a:pPr lvl="0" indent="-342900" marL="342900">
              <a:buAutoNum type="arabicPeriod"/>
            </a:pPr>
            <a:r>
              <a:rPr/>
              <a:t>Comparaison et métriques</a:t>
            </a:r>
          </a:p>
          <a:p>
            <a:pPr lvl="0" indent="-342900" marL="342900">
              <a:buAutoNum type="arabicPeriod"/>
            </a:pPr>
            <a:r>
              <a:rPr/>
              <a:t>Conclusion &amp; perspectives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Objectif</a:t>
            </a:r>
            <a:r>
              <a:rPr/>
              <a:t> : Générer des images de chiffres manuscrits (MNIST) avec différentes architectures Deep Learning.</a:t>
            </a:r>
          </a:p>
          <a:p>
            <a:pPr lvl="0" indent="0" marL="0">
              <a:buNone/>
            </a:pPr>
            <a:r>
              <a:rPr b="1"/>
              <a:t>Modèles étudiés</a:t>
            </a:r>
            <a:r>
              <a:rPr/>
              <a:t> : - Autoencodeur (reconstruction) - VAE (génération probabiliste) - GAN (génération adversarial) - WGAN-GP (amélioration stable)</a:t>
            </a:r>
          </a:p>
          <a:p>
            <a:pPr lvl="0" indent="0" marL="0">
              <a:buNone/>
            </a:pPr>
            <a:r>
              <a:rPr b="1"/>
              <a:t>Métriques d’évaluation</a:t>
            </a:r>
            <a:r>
              <a:rPr/>
              <a:t> : - Perte de reconstruction (MSE) pour AE/VAE - FID (Fréchet Inception Distance) pour les GANs - Qualité visuelle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Autoencodeur simple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Principe</a:t>
            </a:r>
            <a:r>
              <a:rPr/>
              <a:t> : Encodeur → Espace latent → Décodeur</a:t>
            </a:r>
          </a:p>
          <a:p>
            <a:pPr lvl="0"/>
            <a:r>
              <a:rPr b="1"/>
              <a:t>Objectif</a:t>
            </a:r>
            <a:r>
              <a:rPr/>
              <a:t> : Minimiser l’erreur de reconstruction (MSE)</a:t>
            </a:r>
          </a:p>
          <a:p>
            <a:pPr lvl="0"/>
            <a:r>
              <a:rPr b="1"/>
              <a:t>Avantage</a:t>
            </a:r>
            <a:r>
              <a:rPr/>
              <a:t> : Simple et rapide à entraîner</a:t>
            </a:r>
          </a:p>
          <a:p>
            <a:pPr lvl="0"/>
            <a:r>
              <a:rPr b="1"/>
              <a:t>Limite</a:t>
            </a:r>
            <a:r>
              <a:rPr/>
              <a:t> : Ne génère pas de nouvelles images (seulement reconstruction)</a:t>
            </a:r>
          </a:p>
          <a:p>
            <a:pPr lvl="0" indent="0" marL="0">
              <a:buNone/>
            </a:pPr>
            <a:r>
              <a:rPr b="1"/>
              <a:t>Résultats</a:t>
            </a:r>
            <a:r>
              <a:rPr/>
              <a:t> :</a:t>
            </a:r>
          </a:p>
        </p:txBody>
      </p:sp>
      <p:pic>
        <p:nvPicPr>
          <p:cNvPr descr="figures\01_autoencoder_fig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Courbe d’apprentissage</a:t>
            </a:r>
          </a:p>
        </p:txBody>
      </p:sp>
      <p:pic>
        <p:nvPicPr>
          <p:cNvPr descr="figures\01_autoencoder_fig0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079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sorties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Autoencodeur variationnel (VAE)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Principe</a:t>
            </a:r>
            <a:r>
              <a:rPr/>
              <a:t> : Encodeur probabiliste (moyenne + variance) + reparametrization trick</a:t>
            </a:r>
          </a:p>
          <a:p>
            <a:pPr lvl="0"/>
            <a:r>
              <a:rPr b="1"/>
              <a:t>Objectif</a:t>
            </a:r>
            <a:r>
              <a:rPr/>
              <a:t> : Maximiser l’ELBO (reconstruction + régularisation KL)</a:t>
            </a:r>
          </a:p>
          <a:p>
            <a:pPr lvl="0"/>
            <a:r>
              <a:rPr b="1"/>
              <a:t>Avantage</a:t>
            </a:r>
            <a:r>
              <a:rPr/>
              <a:t> : Génération contrôlable par échantillonnage</a:t>
            </a:r>
          </a:p>
          <a:p>
            <a:pPr lvl="0"/>
            <a:r>
              <a:rPr b="1"/>
              <a:t>Limite</a:t>
            </a:r>
            <a:r>
              <a:rPr/>
              <a:t> : Images parfois floues</a:t>
            </a:r>
          </a:p>
          <a:p>
            <a:pPr lvl="0" indent="0" marL="0">
              <a:buNone/>
            </a:pPr>
            <a:r>
              <a:rPr b="1"/>
              <a:t>Résultats</a:t>
            </a:r>
            <a:r>
              <a:rPr/>
              <a:t> :</a:t>
            </a:r>
          </a:p>
        </p:txBody>
      </p:sp>
      <p:pic>
        <p:nvPicPr>
          <p:cNvPr descr="figures\02_vae_fig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Courbe d’apprentissage</a:t>
            </a:r>
          </a:p>
        </p:txBody>
      </p:sp>
      <p:pic>
        <p:nvPicPr>
          <p:cNvPr descr="figures\02_vae_fig0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sorties</a:t>
            </a:r>
          </a:p>
        </p:txBody>
      </p:sp>
      <p:pic>
        <p:nvPicPr>
          <p:cNvPr descr="figures\02_vae_fig03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079500"/>
            <a:ext cx="51054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Espace latent (VAE)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GAN classique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Principe</a:t>
            </a:r>
            <a:r>
              <a:rPr/>
              <a:t> : Compétition Générateur vs Discriminateur</a:t>
            </a:r>
          </a:p>
          <a:p>
            <a:pPr lvl="0"/>
            <a:r>
              <a:rPr b="1"/>
              <a:t>Objectif</a:t>
            </a:r>
            <a:r>
              <a:rPr/>
              <a:t> : Le générateur trompe le discriminateur</a:t>
            </a:r>
          </a:p>
          <a:p>
            <a:pPr lvl="0"/>
            <a:r>
              <a:rPr b="1"/>
              <a:t>Avantage</a:t>
            </a:r>
            <a:r>
              <a:rPr/>
              <a:t> : Images nettes</a:t>
            </a:r>
          </a:p>
          <a:p>
            <a:pPr lvl="0"/>
            <a:r>
              <a:rPr b="1"/>
              <a:t>Limite</a:t>
            </a:r>
            <a:r>
              <a:rPr/>
              <a:t> : Instabilité, mode collapse</a:t>
            </a:r>
          </a:p>
          <a:p>
            <a:pPr lvl="0" indent="0" marL="0">
              <a:buNone/>
            </a:pPr>
            <a:r>
              <a:rPr b="1"/>
              <a:t>Résultats</a:t>
            </a:r>
            <a:r>
              <a:rPr/>
              <a:t> :</a:t>
            </a:r>
          </a:p>
        </p:txBody>
      </p:sp>
      <p:pic>
        <p:nvPicPr>
          <p:cNvPr descr="figures\03_gan_fig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3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Courbe d’apprentissage</a:t>
            </a:r>
          </a:p>
        </p:txBody>
      </p:sp>
      <p:pic>
        <p:nvPicPr>
          <p:cNvPr descr="figures\03_gan_fig0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03700" y="203200"/>
            <a:ext cx="383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sorties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WGAN-GP (plus stable)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Principe</a:t>
            </a:r>
            <a:r>
              <a:rPr/>
              <a:t> : Distance de Wasserstein + pénalité de gradient</a:t>
            </a:r>
          </a:p>
          <a:p>
            <a:pPr lvl="0"/>
            <a:r>
              <a:rPr b="1"/>
              <a:t>Objectif</a:t>
            </a:r>
            <a:r>
              <a:rPr/>
              <a:t> : Stabilité et convergence assurée</a:t>
            </a:r>
          </a:p>
          <a:p>
            <a:pPr lvl="0"/>
            <a:r>
              <a:rPr b="1"/>
              <a:t>Avantage</a:t>
            </a:r>
            <a:r>
              <a:rPr/>
              <a:t> : Qualité élevée, diversité</a:t>
            </a:r>
          </a:p>
          <a:p>
            <a:pPr lvl="0"/>
            <a:r>
              <a:rPr b="1"/>
              <a:t>Limite</a:t>
            </a:r>
            <a:r>
              <a:rPr/>
              <a:t> : Coût de calcul légèrement supérieur</a:t>
            </a:r>
          </a:p>
          <a:p>
            <a:pPr lvl="0" indent="0" marL="0">
              <a:buNone/>
            </a:pPr>
            <a:r>
              <a:rPr b="1"/>
              <a:t>Résultats</a:t>
            </a:r>
            <a:r>
              <a:rPr/>
              <a:t> :</a:t>
            </a:r>
          </a:p>
        </p:txBody>
      </p:sp>
      <p:pic>
        <p:nvPicPr>
          <p:cNvPr descr="figures\04_wgangp_fig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3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Courbe d’apprentissage</a:t>
            </a:r>
          </a:p>
        </p:txBody>
      </p:sp>
      <p:pic>
        <p:nvPicPr>
          <p:cNvPr descr="figures\04_wgangp_fig0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03700" y="203200"/>
            <a:ext cx="3835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sorties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Comparaison des performances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/>
                <a:gridCol w="3746500"/>
                <a:gridCol w="1092200"/>
                <a:gridCol w="1333500"/>
                <a:gridCol w="1092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Perte de test (reconstruction)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FID (↓)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Autoencodeur simple | 0.023456 | N/A | ✅ Élevée | Reconstruction fidèle |</a:t>
            </a:r>
          </a:p>
          <a:p>
            <a:pPr lvl="0" indent="0" marL="0">
              <a:buNone/>
            </a:pPr>
            <a:r>
              <a:rPr/>
              <a:t>Autoencodeur variationnel (VAE) | N/A | N/A | ✅ Élevée | Reconstruction fidèle |</a:t>
            </a:r>
          </a:p>
          <a:p>
            <a:pPr lvl="0" indent="0" marL="0">
              <a:buNone/>
            </a:pPr>
            <a:r>
              <a:rPr/>
              <a:t>GAN classique | N/A | N/A | ⚠️ Instable | Bonne (mode collapse possible) |</a:t>
            </a:r>
          </a:p>
          <a:p>
            <a:pPr lvl="0" indent="0" marL="0">
              <a:buNone/>
            </a:pPr>
            <a:r>
              <a:rPr/>
              <a:t>WGAN-GP (plus stable) | N/A | 52.30 | ✅ Très stable | ⭐ Haute qualité |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Principaux enseignements</a:t>
            </a:r>
            <a:r>
              <a:rPr/>
              <a:t> : - L’autoencodeur simple est parfait pour la reconstruction, mais limité pour la génération. - Le VAE permet une génération contrôlée et variée. - Le GAN classique offre des images nettes mais souffre d’instabilité. - Le </a:t>
            </a:r>
            <a:r>
              <a:rPr b="1"/>
              <a:t>WGAN-GP</a:t>
            </a:r>
            <a:r>
              <a:rPr/>
              <a:t> est le meilleur compromis : stable, diversifié, haute qualité visuelle.</a:t>
            </a:r>
          </a:p>
          <a:p>
            <a:pPr lvl="0" indent="0" marL="0">
              <a:buNone/>
            </a:pPr>
            <a:r>
              <a:rPr b="1"/>
              <a:t>Perspectives</a:t>
            </a:r>
            <a:r>
              <a:rPr/>
              <a:t> : - Utiliser des datasets plus complexes (CIFAR-10, visages). - Explorer d’autres architectures (StyleGAN, Diffusion models). - Déployer le modèle dans une application Streamlit pour la génération interactive.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Merci pour votre attention !</a:t>
            </a:r>
          </a:p>
          <a:p>
            <a:pPr lvl="0" indent="0" marL="0">
              <a:buNone/>
            </a:pPr>
            <a:r>
              <a:rPr/>
              <a:t>Questions 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Diaporama – Projet Deep Learning</dc:title>
  <dc:creator>Sujet F : Autoencodeurs, VAE et GAN</dc:creator>
  <cp:keywords/>
  <dcterms:created xsi:type="dcterms:W3CDTF">2026-06-20T16:54:31Z</dcterms:created>
  <dcterms:modified xsi:type="dcterms:W3CDTF">2026-06-20T16:54:31Z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Groupe [vos noms] – [Date]</vt:lpwstr>
  </property>
</Properties>
</file>